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5C1644-0645-3484-6A5D-E22A92E281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886704-041A-0844-BD57-DD072C848B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9634E2-78C8-CA08-4E39-FC44A9996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3E81C-0103-459B-A2E1-14D5FA00B842}" type="datetimeFigureOut">
              <a:rPr lang="es-ES" smtClean="0"/>
              <a:t>11/01/2023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C41F15-F935-86C3-E9B9-DC792A470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4D7646-89D7-F417-89D0-DE4459464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CF491-A17D-4C3F-B6E7-B7B31D099E9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0336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A3DCDD-06F7-371E-67F7-E914E20A2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2D022F-49B8-609B-30DA-C612847B6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2C38E9-334E-1870-B212-F6A7238AA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3E81C-0103-459B-A2E1-14D5FA00B842}" type="datetimeFigureOut">
              <a:rPr lang="es-ES" smtClean="0"/>
              <a:t>11/01/2023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3A803B-306E-73D0-A9D9-C5EF044E8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41C3D7-9554-55B1-500E-A6385AE06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CF491-A17D-4C3F-B6E7-B7B31D099E9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346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7ECF84-B8D8-9001-BC62-5B665F63A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05AFC8-83EF-7464-41A2-67FD2A42C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428E7A-33CA-2D6F-9088-62A35988A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3E81C-0103-459B-A2E1-14D5FA00B842}" type="datetimeFigureOut">
              <a:rPr lang="es-ES" smtClean="0"/>
              <a:t>11/01/2023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76CB19-F0DC-900E-3393-D3B9E5CB3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9E305D-F228-1633-E159-6AE666174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CF491-A17D-4C3F-B6E7-B7B31D099E9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35946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EC8C10-427F-138C-652F-4DA667F94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24576F-0446-CE82-2D5F-B263409474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3F7309C-150D-8DF9-B198-7C87F5E79D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6C980E1-CBFB-9927-45D3-8EDA0C808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3E81C-0103-459B-A2E1-14D5FA00B842}" type="datetimeFigureOut">
              <a:rPr lang="es-ES" smtClean="0"/>
              <a:t>11/01/2023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F5D325B-F6E7-4D96-001C-B194CDF99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8ECED7-6255-4CD1-FE82-59E279CBE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CF491-A17D-4C3F-B6E7-B7B31D099E9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9306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9D6103-0845-6D56-D562-C04907172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425EC6-C05F-7A58-6B13-713A4EC1AB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D5A3406-D2E4-AAA0-6DBB-657D445E5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694DB62-77CB-EB48-0F1F-CED375B958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7C9AAB2-7D77-4B7F-60BB-3421B4ADA4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55CA1B8-DEC8-B5BD-8A63-819A587C4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3E81C-0103-459B-A2E1-14D5FA00B842}" type="datetimeFigureOut">
              <a:rPr lang="es-ES" smtClean="0"/>
              <a:t>11/01/2023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EE06B57-4137-B9BD-1C02-02DFB99A8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EC3255C-1A9A-5DB3-EC2D-F27F6EB74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CF491-A17D-4C3F-B6E7-B7B31D099E9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1119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4A7E3A-BB16-2E95-9F27-F46A1B029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7F258D4-433E-6EB8-424C-2F17C9ECE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3E81C-0103-459B-A2E1-14D5FA00B842}" type="datetimeFigureOut">
              <a:rPr lang="es-ES" smtClean="0"/>
              <a:t>11/01/2023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8EC9667-B29B-BF3D-A231-6158134BE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CBC19CB-5CB1-0E04-5925-1DE2D6EE4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CF491-A17D-4C3F-B6E7-B7B31D099E9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9296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1FB6A67-33F0-5277-253C-8E8CC4F9A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3E81C-0103-459B-A2E1-14D5FA00B842}" type="datetimeFigureOut">
              <a:rPr lang="es-ES" smtClean="0"/>
              <a:t>11/01/2023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BD27C70-BCFE-E370-7A43-561571C15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3AB32AB-441E-ECFA-3CE4-BA9747934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CF491-A17D-4C3F-B6E7-B7B31D099E9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7376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DFB6ED-69A8-A7DD-106F-0D22C0BFA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5FF18B-14C4-E6D6-E118-0D9327140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71C597F-68DA-E7E8-1E40-D5B1BB29E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E5EBE66-4891-C201-85A4-6639C34BC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3E81C-0103-459B-A2E1-14D5FA00B842}" type="datetimeFigureOut">
              <a:rPr lang="es-ES" smtClean="0"/>
              <a:t>11/01/2023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70F70BD-32D3-EC07-7038-8D92DC175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40AFBEF-5AAC-33B1-F76C-AFEE50273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CF491-A17D-4C3F-B6E7-B7B31D099E9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5374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6969BE-BE80-67D9-FA81-1853D714A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75B930E-7077-4AB6-8659-83D5C2BD37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19B8F22-56A0-22EF-591D-E72451E1ED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7C755A-84AA-7D38-A9AA-4991396BD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3E81C-0103-459B-A2E1-14D5FA00B842}" type="datetimeFigureOut">
              <a:rPr lang="es-ES" smtClean="0"/>
              <a:t>11/01/2023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22D4D7B-9465-C036-2B2F-BE316A74B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0994D8A-4289-5432-9DB3-816425EC0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CF491-A17D-4C3F-B6E7-B7B31D099E9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7193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6CC2D9-924B-B376-9CF4-57316E3A2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5699F90-1BD4-2296-BA95-849EDDCC2D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B99095-435D-FA22-B989-14EC96CFB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3E81C-0103-459B-A2E1-14D5FA00B842}" type="datetimeFigureOut">
              <a:rPr lang="es-ES" smtClean="0"/>
              <a:t>11/01/2023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39DF7E-DD0E-BF11-CFA0-290619DA3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9B7E6D-2303-02D8-48C9-21A44098A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CF491-A17D-4C3F-B6E7-B7B31D099E9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0638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EF7D44A-72CC-2A7E-67BD-9C8B0C7E1C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DC21A8C-DF67-F442-85B0-B5A0122334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D8FAC9-EDC9-FBA8-343C-2324A7A2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3E81C-0103-459B-A2E1-14D5FA00B842}" type="datetimeFigureOut">
              <a:rPr lang="es-ES" smtClean="0"/>
              <a:t>11/01/2023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90148E-757F-F315-4387-365C3AA4A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894BBA-A454-DB41-B5CD-08AFC662D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CF491-A17D-4C3F-B6E7-B7B31D099E9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6768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0CB71FD-D65A-0FB9-76CE-F3921D92A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4157C14-8EB0-BE4D-EF7D-E5EC437B8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09E9E6-2372-81FC-7030-D80E7244D6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B3E81C-0103-459B-A2E1-14D5FA00B842}" type="datetimeFigureOut">
              <a:rPr lang="es-ES" smtClean="0"/>
              <a:t>11/01/2023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F16A16-BFBD-6862-07B5-FA9A891A0E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2852CB-2A78-AAF7-6956-6FD1B9538E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CF491-A17D-4C3F-B6E7-B7B31D099E9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576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beta.es.reactjs.org/lear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ddons.mozilla.org/en-US/firefox/addon/react-devtools/" TargetMode="External"/><Relationship Id="rId2" Type="http://schemas.openxmlformats.org/officeDocument/2006/relationships/hyperlink" Target="https://chrome.google.com/webstore/detail/react-developer-tools/fmkadmapgofadopljbjfkapdkoienihi?hl=en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transform.tools/html-to-jsx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E0F7EB-0944-E8AE-F038-0A6D7AE415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Introducción a </a:t>
            </a:r>
            <a:r>
              <a:rPr lang="es-ES" dirty="0" err="1"/>
              <a:t>React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FD78DB-5611-DBFB-C7B0-879CF1CEFD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Basado en </a:t>
            </a:r>
            <a:r>
              <a:rPr lang="es-ES" dirty="0">
                <a:hlinkClick r:id="rId2"/>
              </a:rPr>
              <a:t>https://beta.es.reactjs.org/learn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69411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DFFCF4-6355-374B-29C6-0B5BFA1FF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Índice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E4D3E4-8EE7-1598-E7D1-CB22042C2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s-E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Hola mundo en </a:t>
            </a:r>
            <a:r>
              <a:rPr lang="es-ES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React</a:t>
            </a:r>
            <a:endParaRPr lang="es-E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s-E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Entorno de desarrollo</a:t>
            </a:r>
          </a:p>
          <a:p>
            <a:pPr marL="514350" indent="-514350">
              <a:buAutoNum type="arabicPeriod"/>
            </a:pPr>
            <a:r>
              <a:rPr lang="es-ES" dirty="0">
                <a:cs typeface="Times New Roman" panose="02020603050405020304" pitchFamily="18" charset="0"/>
              </a:rPr>
              <a:t>Componentes </a:t>
            </a:r>
            <a:r>
              <a:rPr lang="es-ES" dirty="0" err="1">
                <a:cs typeface="Times New Roman" panose="02020603050405020304" pitchFamily="18" charset="0"/>
              </a:rPr>
              <a:t>React</a:t>
            </a:r>
            <a:endParaRPr lang="es-ES" dirty="0"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s-ES" dirty="0">
                <a:cs typeface="Times New Roman" panose="02020603050405020304" pitchFamily="18" charset="0"/>
              </a:rPr>
              <a:t>JSX</a:t>
            </a:r>
          </a:p>
          <a:p>
            <a:pPr marL="514350" indent="-514350">
              <a:buAutoNum type="arabicPeriod"/>
            </a:pPr>
            <a:r>
              <a:rPr lang="es-ES" dirty="0">
                <a:cs typeface="Times New Roman" panose="02020603050405020304" pitchFamily="18" charset="0"/>
              </a:rPr>
              <a:t>Agregar estado a los componentes</a:t>
            </a:r>
          </a:p>
          <a:p>
            <a:pPr marL="514350" indent="-514350">
              <a:buAutoNum type="arabicPeriod"/>
            </a:pPr>
            <a:r>
              <a:rPr lang="es-ES" dirty="0">
                <a:cs typeface="Times New Roman" panose="02020603050405020304" pitchFamily="18" charset="0"/>
              </a:rPr>
              <a:t>Compartir el estado entre componentes</a:t>
            </a:r>
          </a:p>
          <a:p>
            <a:pPr marL="514350" indent="-514350">
              <a:buAutoNum type="arabicPeriod"/>
            </a:pPr>
            <a:r>
              <a:rPr lang="es-ES" dirty="0">
                <a:cs typeface="Times New Roman" panose="02020603050405020304" pitchFamily="18" charset="0"/>
              </a:rPr>
              <a:t>Añadir JSX a un proyecto</a:t>
            </a:r>
          </a:p>
          <a:p>
            <a:pPr marL="514350" indent="-514350">
              <a:buAutoNum type="arabicPeriod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41906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B238E2-32DF-03C5-B49A-98A89B1B5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1. </a:t>
            </a:r>
            <a:r>
              <a:rPr lang="es-E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Hola mundo en React.js (I)</a:t>
            </a:r>
            <a:b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8EC3C7-50A8-B191-7F31-31FE61C32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278" y="1253331"/>
            <a:ext cx="11504721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s-ES" sz="72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&lt;!DOCTYPE</a:t>
            </a:r>
            <a:r>
              <a:rPr lang="es-ES" sz="7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720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s-ES" sz="72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s-ES" sz="7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s-ES" sz="72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s-ES" sz="720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s-ES" sz="72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s-ES" sz="7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s-ES" sz="7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s-ES" sz="72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&lt;head&gt;</a:t>
            </a:r>
            <a:endParaRPr lang="es-ES" sz="7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s-ES" sz="7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s-ES" sz="72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&lt;meta</a:t>
            </a:r>
            <a:r>
              <a:rPr lang="es-ES" sz="7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720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charset</a:t>
            </a:r>
            <a:r>
              <a:rPr lang="es-ES" sz="7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s-ES" sz="7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"UTF-8"</a:t>
            </a:r>
            <a:r>
              <a:rPr lang="es-ES" sz="7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72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/&gt;</a:t>
            </a:r>
            <a:endParaRPr lang="es-ES" sz="7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s-ES" sz="7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s-ES" sz="72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s-ES" sz="720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s-ES" sz="72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s-ES" sz="7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r>
              <a:rPr lang="es-ES" sz="7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7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World</a:t>
            </a:r>
            <a:r>
              <a:rPr lang="es-ES" sz="72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s-ES" sz="720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s-ES" sz="72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s-ES" sz="7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s-ES" sz="7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s-ES" sz="72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&lt;script</a:t>
            </a:r>
            <a:r>
              <a:rPr lang="es-ES" sz="7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720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s-ES" sz="7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s-ES" sz="7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"https://unpkg.com/react@18/</a:t>
            </a:r>
            <a:r>
              <a:rPr lang="es-ES" sz="7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umd</a:t>
            </a:r>
            <a:r>
              <a:rPr lang="es-ES" sz="7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/react.development.js"</a:t>
            </a:r>
            <a:r>
              <a:rPr lang="es-ES" sz="72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&gt;&lt;/script&gt;</a:t>
            </a:r>
            <a:endParaRPr lang="es-ES" sz="7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s-ES" sz="7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s-ES" sz="72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&lt;script</a:t>
            </a:r>
            <a:r>
              <a:rPr lang="es-ES" sz="7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720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s-ES" sz="7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s-ES" sz="7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"https://unpkg.com/react-dom@18/</a:t>
            </a:r>
            <a:r>
              <a:rPr lang="es-ES" sz="7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umd</a:t>
            </a:r>
            <a:r>
              <a:rPr lang="es-ES" sz="7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/react-dom.development.js"</a:t>
            </a:r>
            <a:r>
              <a:rPr lang="es-ES" sz="72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&gt;&lt;/script&gt;</a:t>
            </a:r>
            <a:endParaRPr lang="es-ES" sz="7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s-ES" sz="7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s-ES" sz="72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&lt;!-- </a:t>
            </a:r>
            <a:r>
              <a:rPr lang="es-ES" sz="72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Don't</a:t>
            </a:r>
            <a:r>
              <a:rPr lang="es-ES" sz="72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use </a:t>
            </a:r>
            <a:r>
              <a:rPr lang="es-ES" sz="72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s-ES" sz="72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s-ES" sz="72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production</a:t>
            </a:r>
            <a:r>
              <a:rPr lang="es-ES" sz="72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--&gt;</a:t>
            </a:r>
            <a:endParaRPr lang="es-ES" sz="7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s-ES" sz="7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s-ES" sz="72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&lt;script</a:t>
            </a:r>
            <a:r>
              <a:rPr lang="es-ES" sz="7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720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s-ES" sz="7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s-ES" sz="7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"https://unpkg.com/@babel/standalone/babel.min.js"</a:t>
            </a:r>
            <a:r>
              <a:rPr lang="es-ES" sz="72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&gt;&lt;/script&gt;</a:t>
            </a:r>
            <a:endParaRPr lang="es-ES" sz="7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s-ES" sz="7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s-ES" sz="72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&lt;/head&gt;</a:t>
            </a:r>
            <a:endParaRPr lang="es-ES" sz="7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s-ES" sz="7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s-ES" sz="72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s-ES" sz="720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r>
              <a:rPr lang="es-ES" sz="72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s-ES" sz="7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s-ES" sz="7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s-ES" sz="72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s-ES" sz="720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es-ES" sz="7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7200" dirty="0">
                <a:solidFill>
                  <a:srgbClr val="E5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es-ES" sz="7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s-ES" sz="7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s-ES" sz="7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es-ES" sz="7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s-ES" sz="72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&gt;&lt;/</a:t>
            </a:r>
            <a:r>
              <a:rPr lang="es-ES" sz="720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es-ES" sz="72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s-ES" sz="7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s-ES" dirty="0"/>
          </a:p>
        </p:txBody>
      </p:sp>
      <p:sp>
        <p:nvSpPr>
          <p:cNvPr id="5" name="Globo: línea 4">
            <a:extLst>
              <a:ext uri="{FF2B5EF4-FFF2-40B4-BE49-F238E27FC236}">
                <a16:creationId xmlns:a16="http://schemas.microsoft.com/office/drawing/2014/main" id="{7C9729D5-FD48-FC84-6E0E-54925C5009C2}"/>
              </a:ext>
            </a:extLst>
          </p:cNvPr>
          <p:cNvSpPr/>
          <p:nvPr/>
        </p:nvSpPr>
        <p:spPr>
          <a:xfrm>
            <a:off x="8565966" y="2268175"/>
            <a:ext cx="3444536" cy="621437"/>
          </a:xfrm>
          <a:prstGeom prst="borderCallout1">
            <a:avLst>
              <a:gd name="adj1" fmla="val 18750"/>
              <a:gd name="adj2" fmla="val -8333"/>
              <a:gd name="adj3" fmla="val 183929"/>
              <a:gd name="adj4" fmla="val -8704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Librerias</a:t>
            </a:r>
            <a:r>
              <a:rPr lang="es-ES" dirty="0"/>
              <a:t> de </a:t>
            </a:r>
            <a:r>
              <a:rPr lang="es-ES" dirty="0" err="1"/>
              <a:t>React</a:t>
            </a:r>
            <a:endParaRPr lang="es-ES" dirty="0"/>
          </a:p>
        </p:txBody>
      </p:sp>
      <p:sp>
        <p:nvSpPr>
          <p:cNvPr id="6" name="Globo: línea 5">
            <a:extLst>
              <a:ext uri="{FF2B5EF4-FFF2-40B4-BE49-F238E27FC236}">
                <a16:creationId xmlns:a16="http://schemas.microsoft.com/office/drawing/2014/main" id="{53A3CD39-E622-23BF-78AE-00466E7545B3}"/>
              </a:ext>
            </a:extLst>
          </p:cNvPr>
          <p:cNvSpPr/>
          <p:nvPr/>
        </p:nvSpPr>
        <p:spPr>
          <a:xfrm>
            <a:off x="8682856" y="5293950"/>
            <a:ext cx="3444536" cy="621437"/>
          </a:xfrm>
          <a:prstGeom prst="borderCallout1">
            <a:avLst>
              <a:gd name="adj1" fmla="val 18750"/>
              <a:gd name="adj2" fmla="val -8333"/>
              <a:gd name="adj3" fmla="val -54642"/>
              <a:gd name="adj4" fmla="val -7879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Librerias</a:t>
            </a:r>
            <a:r>
              <a:rPr lang="es-ES" dirty="0"/>
              <a:t> de Babel (JSX)</a:t>
            </a:r>
          </a:p>
        </p:txBody>
      </p:sp>
      <p:sp>
        <p:nvSpPr>
          <p:cNvPr id="7" name="Globo: línea 6">
            <a:extLst>
              <a:ext uri="{FF2B5EF4-FFF2-40B4-BE49-F238E27FC236}">
                <a16:creationId xmlns:a16="http://schemas.microsoft.com/office/drawing/2014/main" id="{67DB6FB7-8C03-4EE4-E39E-D230084832C1}"/>
              </a:ext>
            </a:extLst>
          </p:cNvPr>
          <p:cNvSpPr/>
          <p:nvPr/>
        </p:nvSpPr>
        <p:spPr>
          <a:xfrm>
            <a:off x="6439638" y="6032901"/>
            <a:ext cx="3444536" cy="621437"/>
          </a:xfrm>
          <a:prstGeom prst="borderCallout1">
            <a:avLst>
              <a:gd name="adj1" fmla="val 63036"/>
              <a:gd name="adj2" fmla="val -5756"/>
              <a:gd name="adj3" fmla="val 9642"/>
              <a:gd name="adj4" fmla="val -6668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Punto de inserción del componente </a:t>
            </a:r>
            <a:r>
              <a:rPr lang="es-ES" dirty="0" err="1"/>
              <a:t>React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3201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2CE362-201D-C473-9B23-4ABB0B269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1. </a:t>
            </a:r>
            <a:r>
              <a:rPr lang="es-E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Hola mundo en React.js (y II)</a:t>
            </a:r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6B95440-E495-2497-0D41-C610701AE69B}"/>
              </a:ext>
            </a:extLst>
          </p:cNvPr>
          <p:cNvSpPr txBox="1"/>
          <p:nvPr/>
        </p:nvSpPr>
        <p:spPr>
          <a:xfrm>
            <a:off x="632913" y="1526450"/>
            <a:ext cx="7276351" cy="5154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</a:t>
            </a:r>
            <a:r>
              <a:rPr lang="es-ES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&lt;script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s-E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s-ES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lang="es-E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/babel"</a:t>
            </a:r>
            <a:r>
              <a:rPr lang="es-ES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</a:t>
            </a:r>
            <a:r>
              <a:rPr lang="es-ES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MyApp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s-ES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&lt;h1&gt;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world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r>
              <a:rPr lang="es-ES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&lt;/h1&gt;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}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</a:t>
            </a:r>
            <a:r>
              <a:rPr lang="es-ES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container = 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document.getElementById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E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s-ES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es-E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</a:t>
            </a:r>
            <a:r>
              <a:rPr lang="es-ES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ReactDOM.createRoot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(container);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root.render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ES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s-ES" sz="180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MyApp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/&gt;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s-ES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&lt;/script&gt;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s-ES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s-ES" sz="180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r>
              <a:rPr lang="es-ES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s-ES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s-ES" sz="180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s-ES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ES" dirty="0"/>
          </a:p>
        </p:txBody>
      </p:sp>
      <p:sp>
        <p:nvSpPr>
          <p:cNvPr id="5" name="Globo: línea 4">
            <a:extLst>
              <a:ext uri="{FF2B5EF4-FFF2-40B4-BE49-F238E27FC236}">
                <a16:creationId xmlns:a16="http://schemas.microsoft.com/office/drawing/2014/main" id="{3D406E7C-A14C-0269-03D1-6A762782438D}"/>
              </a:ext>
            </a:extLst>
          </p:cNvPr>
          <p:cNvSpPr/>
          <p:nvPr/>
        </p:nvSpPr>
        <p:spPr>
          <a:xfrm>
            <a:off x="7093258" y="2198996"/>
            <a:ext cx="3444536" cy="621437"/>
          </a:xfrm>
          <a:prstGeom prst="borderCallout1">
            <a:avLst>
              <a:gd name="adj1" fmla="val 18750"/>
              <a:gd name="adj2" fmla="val -8333"/>
              <a:gd name="adj3" fmla="val 12500"/>
              <a:gd name="adj4" fmla="val -8910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Componente </a:t>
            </a:r>
            <a:r>
              <a:rPr lang="es-ES" dirty="0" err="1"/>
              <a:t>React</a:t>
            </a:r>
            <a:endParaRPr lang="es-ES" dirty="0"/>
          </a:p>
        </p:txBody>
      </p:sp>
      <p:sp>
        <p:nvSpPr>
          <p:cNvPr id="6" name="Globo: línea 5">
            <a:extLst>
              <a:ext uri="{FF2B5EF4-FFF2-40B4-BE49-F238E27FC236}">
                <a16:creationId xmlns:a16="http://schemas.microsoft.com/office/drawing/2014/main" id="{E24E549D-E368-417D-D040-165370F5EE70}"/>
              </a:ext>
            </a:extLst>
          </p:cNvPr>
          <p:cNvSpPr/>
          <p:nvPr/>
        </p:nvSpPr>
        <p:spPr>
          <a:xfrm>
            <a:off x="7694853" y="1379969"/>
            <a:ext cx="3444536" cy="621437"/>
          </a:xfrm>
          <a:prstGeom prst="borderCallout1">
            <a:avLst>
              <a:gd name="adj1" fmla="val 18750"/>
              <a:gd name="adj2" fmla="val -8333"/>
              <a:gd name="adj3" fmla="val 62500"/>
              <a:gd name="adj4" fmla="val -9297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Tipo babel (JSX)</a:t>
            </a:r>
          </a:p>
        </p:txBody>
      </p:sp>
      <p:sp>
        <p:nvSpPr>
          <p:cNvPr id="7" name="Globo: línea 6">
            <a:extLst>
              <a:ext uri="{FF2B5EF4-FFF2-40B4-BE49-F238E27FC236}">
                <a16:creationId xmlns:a16="http://schemas.microsoft.com/office/drawing/2014/main" id="{3620DB6E-A8FD-844C-3DD2-DBE501EA9F56}"/>
              </a:ext>
            </a:extLst>
          </p:cNvPr>
          <p:cNvSpPr/>
          <p:nvPr/>
        </p:nvSpPr>
        <p:spPr>
          <a:xfrm>
            <a:off x="7909264" y="5020831"/>
            <a:ext cx="3444536" cy="621437"/>
          </a:xfrm>
          <a:prstGeom prst="borderCallout1">
            <a:avLst>
              <a:gd name="adj1" fmla="val 18750"/>
              <a:gd name="adj2" fmla="val -8333"/>
              <a:gd name="adj3" fmla="val -113214"/>
              <a:gd name="adj4" fmla="val -976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Inserción en el DOM del documento del componente </a:t>
            </a:r>
            <a:r>
              <a:rPr lang="es-ES" dirty="0" err="1"/>
              <a:t>React</a:t>
            </a:r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C5E0006-D41F-13D8-9680-51DA130114F1}"/>
              </a:ext>
            </a:extLst>
          </p:cNvPr>
          <p:cNvSpPr txBox="1"/>
          <p:nvPr/>
        </p:nvSpPr>
        <p:spPr>
          <a:xfrm>
            <a:off x="8380520" y="6187736"/>
            <a:ext cx="3053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Ver ejemplo 1.Hola Mundo</a:t>
            </a:r>
          </a:p>
        </p:txBody>
      </p:sp>
    </p:spTree>
    <p:extLst>
      <p:ext uri="{BB962C8B-B14F-4D97-AF65-F5344CB8AC3E}">
        <p14:creationId xmlns:p14="http://schemas.microsoft.com/office/powerpoint/2010/main" val="2935982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9572B2-F7C2-65F1-D929-A7E1BAAAB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2. Entorno de desarrollo</a:t>
            </a:r>
            <a:b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34FBCA-DFFD-5024-AE21-B53514D25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239544"/>
          </a:xfrm>
        </p:spPr>
        <p:txBody>
          <a:bodyPr>
            <a:normAutofit fontScale="92500" lnSpcReduction="20000"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E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Instalar Node.js para disponer de </a:t>
            </a:r>
            <a:r>
              <a:rPr lang="es-E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npm</a:t>
            </a:r>
            <a:r>
              <a:rPr lang="es-E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s-E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Node</a:t>
            </a:r>
            <a:r>
              <a:rPr lang="es-E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Package</a:t>
            </a:r>
            <a:r>
              <a:rPr lang="es-E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Manager)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E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Instalar las siguientes extensiones en </a:t>
            </a:r>
            <a:r>
              <a:rPr lang="es-E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VSCode</a:t>
            </a:r>
            <a:r>
              <a:rPr lang="es-E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s-E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ESLint</a:t>
            </a:r>
            <a:r>
              <a:rPr lang="es-E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un </a:t>
            </a:r>
            <a:r>
              <a:rPr lang="es-E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linter</a:t>
            </a:r>
            <a:r>
              <a:rPr lang="es-E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que es una herramienta que detecta errores en el código.</a:t>
            </a:r>
          </a:p>
          <a:p>
            <a:pPr marL="800100" lvl="1" indent="-34290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Babel </a:t>
            </a:r>
            <a:r>
              <a:rPr lang="es-E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Javascript</a:t>
            </a:r>
            <a:r>
              <a:rPr lang="es-E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resalta la sintaxis de React.js</a:t>
            </a:r>
          </a:p>
          <a:p>
            <a:pPr marL="800100" lvl="1" indent="-34290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Error Lens: detecta y muestra errores de JS</a:t>
            </a:r>
          </a:p>
          <a:p>
            <a:pPr marL="800100" lvl="1" indent="-34290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Live Server: servidor local de pruebas (imprescindible)</a:t>
            </a:r>
          </a:p>
          <a:p>
            <a:pPr marL="800100" lvl="1" indent="-34290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s-E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html</a:t>
            </a:r>
            <a:r>
              <a:rPr lang="es-E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es-E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JSX: convierte HTML en JSX</a:t>
            </a:r>
          </a:p>
          <a:p>
            <a:pPr marL="800100" lvl="1" indent="-34290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s-E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XML Tools (opcional)</a:t>
            </a:r>
          </a:p>
          <a:p>
            <a:pPr marL="800100" lvl="1" indent="-34290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s-E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vscode-icons</a:t>
            </a:r>
            <a:r>
              <a:rPr lang="es-E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(opcional)</a:t>
            </a:r>
          </a:p>
          <a:p>
            <a:pPr marL="800100" lvl="1" indent="-34290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s-E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Prettier</a:t>
            </a:r>
            <a:r>
              <a:rPr lang="es-E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un formateador de código (opcional)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E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Instalar las extensiones de desarrollo de React.js en el navegador</a:t>
            </a: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s-E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 Chrome: </a:t>
            </a:r>
            <a:r>
              <a:rPr lang="es-ES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https://chrome.google.com/webstore/detail/react-developer-tools/fmkadmapgofadopljbjfkapdkoienihi?hl=en</a:t>
            </a:r>
            <a:endParaRPr lang="es-E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s-E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 Firefox: </a:t>
            </a:r>
            <a:r>
              <a:rPr lang="es-ES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https://addons.mozilla.org/en-US/firefox/addon/react-devtools/</a:t>
            </a:r>
            <a:endParaRPr lang="es-E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92850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0DDA1A-51E4-B1E3-D00E-D1881813F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3.Componentes </a:t>
            </a:r>
            <a:r>
              <a:rPr lang="es-ES" dirty="0" err="1"/>
              <a:t>React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2AF73A-AB59-2445-0C09-E7F20D3B4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3986"/>
            <a:ext cx="10161234" cy="1734321"/>
          </a:xfrm>
        </p:spPr>
        <p:txBody>
          <a:bodyPr>
            <a:normAutofit fontScale="55000" lnSpcReduction="20000"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ES" sz="4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Son funciones de JS que devuelven JSX. 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ES" sz="4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 habitual es que cada componente esté en un fichero de JS.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ES" sz="4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 componentes se pueden utilizar como parte de otros componentes.</a:t>
            </a:r>
          </a:p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36BDA3F-66BA-F314-5A14-06BE9C1AB675}"/>
              </a:ext>
            </a:extLst>
          </p:cNvPr>
          <p:cNvSpPr txBox="1"/>
          <p:nvPr/>
        </p:nvSpPr>
        <p:spPr>
          <a:xfrm>
            <a:off x="838200" y="2820997"/>
            <a:ext cx="3409025" cy="3190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"use </a:t>
            </a:r>
            <a:r>
              <a:rPr lang="es-ES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strict</a:t>
            </a:r>
            <a:r>
              <a:rPr lang="es-E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Un componente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MyButton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s-ES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</a:t>
            </a:r>
            <a:r>
              <a:rPr lang="es-ES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s-ES" sz="180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r>
              <a:rPr lang="es-ES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I'm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</a:t>
            </a:r>
            <a:r>
              <a:rPr lang="es-ES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s-ES" sz="180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r>
              <a:rPr lang="es-ES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);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}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1CE9896-282D-D42A-86FE-82EB9B61970C}"/>
              </a:ext>
            </a:extLst>
          </p:cNvPr>
          <p:cNvSpPr txBox="1"/>
          <p:nvPr/>
        </p:nvSpPr>
        <p:spPr>
          <a:xfrm>
            <a:off x="5197875" y="2820997"/>
            <a:ext cx="7093258" cy="4037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Componente principal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s-ES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MyApp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s-ES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</a:t>
            </a:r>
            <a:r>
              <a:rPr lang="es-ES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s-ES" sz="180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es-ES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s-ES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&lt;h1&gt;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Welcome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app</a:t>
            </a:r>
            <a:r>
              <a:rPr lang="es-ES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&lt;/h1&gt;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s-ES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s-ES" sz="180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MyButton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/&gt;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</a:t>
            </a:r>
            <a:r>
              <a:rPr lang="es-ES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s-ES" sz="180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es-ES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);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}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s-E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Inserción del componente en la página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s-ES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container = 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document.getElementById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E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s-ES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es-E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s-ES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ReactDOM.createRoot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(container);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s-E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root.render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ES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s-ES" sz="180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MyApp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/&gt;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30C6863-3628-22E5-1ED0-1B6979B49AE0}"/>
              </a:ext>
            </a:extLst>
          </p:cNvPr>
          <p:cNvSpPr txBox="1"/>
          <p:nvPr/>
        </p:nvSpPr>
        <p:spPr>
          <a:xfrm>
            <a:off x="8744504" y="6308209"/>
            <a:ext cx="3053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Ver ejemplo 2.Componentes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762E9B5D-5823-8703-B48C-845E2602BC0D}"/>
              </a:ext>
            </a:extLst>
          </p:cNvPr>
          <p:cNvCxnSpPr>
            <a:cxnSpLocks/>
          </p:cNvCxnSpPr>
          <p:nvPr/>
        </p:nvCxnSpPr>
        <p:spPr>
          <a:xfrm>
            <a:off x="4628226" y="2894909"/>
            <a:ext cx="0" cy="360354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1427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6E335A-48AC-4F29-F66B-64C8C41C6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4. JSX (I)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0207CF-D12E-9877-5D4C-4B6DA3D37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E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 un lenguaje de marcado que incluye HTML, JS y estilos.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E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JSX es más estricto que HTML:</a:t>
            </a: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s-E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Hay que cerrar todas las etiquetas (</a:t>
            </a:r>
            <a:r>
              <a:rPr lang="es-E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p.e</a:t>
            </a:r>
            <a:r>
              <a:rPr lang="es-E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&lt;</a:t>
            </a:r>
            <a:r>
              <a:rPr lang="es-E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</a:t>
            </a:r>
            <a:r>
              <a:rPr lang="es-E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/&gt;)</a:t>
            </a: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s-E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 componente no puede devolver múltiples etiquetas JSX, hay que envolverlas en un “padre” compartido (&lt;</a:t>
            </a:r>
            <a:r>
              <a:rPr lang="es-E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div</a:t>
            </a:r>
            <a:r>
              <a:rPr lang="es-E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&gt;…&lt;/</a:t>
            </a:r>
            <a:r>
              <a:rPr lang="es-E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div</a:t>
            </a:r>
            <a:r>
              <a:rPr lang="es-E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&gt;) o bien en un envoltorio vacío (&lt;&gt; … &lt;/&gt;).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E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Hay convertidores en línea de JSX a HTML: </a:t>
            </a:r>
            <a:r>
              <a:rPr lang="es-ES" sz="24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https://transform.tools/html-to-jsx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E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extensión “HTML </a:t>
            </a:r>
            <a:r>
              <a:rPr lang="es-E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es-E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JSX” para </a:t>
            </a:r>
            <a:r>
              <a:rPr lang="es-E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VSCode</a:t>
            </a:r>
            <a:r>
              <a:rPr lang="es-E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puede ayudar en esta tarea.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47479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B76746-F32E-EC84-CB1A-99CCB5A1D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4.JSX (II)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095B36-3987-E0A7-3AD6-0692F3C8B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969"/>
            <a:ext cx="10515600" cy="376037"/>
          </a:xfrm>
        </p:spPr>
        <p:txBody>
          <a:bodyPr/>
          <a:lstStyle/>
          <a:p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el siguiente ejemplo se pueden ver algunas de las diferencias entre JSX y HTML:</a:t>
            </a:r>
          </a:p>
          <a:p>
            <a:endParaRPr lang="es-ES" dirty="0"/>
          </a:p>
        </p:txBody>
      </p:sp>
      <p:sp>
        <p:nvSpPr>
          <p:cNvPr id="4" name="Cuadro de texto 2">
            <a:extLst>
              <a:ext uri="{FF2B5EF4-FFF2-40B4-BE49-F238E27FC236}">
                <a16:creationId xmlns:a16="http://schemas.microsoft.com/office/drawing/2014/main" id="{A5B5E9E0-8909-57A8-F9DB-F9EE39DA0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79771"/>
            <a:ext cx="9761737" cy="205285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ts val="1425"/>
              </a:lnSpc>
              <a:spcAft>
                <a:spcPts val="800"/>
              </a:spcAft>
            </a:pPr>
            <a:endParaRPr lang="es-ES" dirty="0">
              <a:solidFill>
                <a:srgbClr val="008000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&lt;!-- </a:t>
            </a:r>
            <a:r>
              <a:rPr lang="es-ES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r>
              <a:rPr lang="es-ES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s-ES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world</a:t>
            </a:r>
            <a:r>
              <a:rPr lang="es-ES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--&gt;</a:t>
            </a:r>
            <a:endParaRPr lang="es-E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dirty="0">
                <a:solidFill>
                  <a:srgbClr val="38383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s-ES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s-ES" dirty="0" err="1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s-ES" dirty="0">
                <a:solidFill>
                  <a:srgbClr val="38383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s-ES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s-ES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awesome</a:t>
            </a:r>
            <a:r>
              <a:rPr lang="es-ES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s-ES" dirty="0" err="1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style</a:t>
            </a:r>
            <a:r>
              <a:rPr lang="es-ES" dirty="0">
                <a:solidFill>
                  <a:srgbClr val="38383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s-ES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s-ES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es-ES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 1px </a:t>
            </a:r>
            <a:r>
              <a:rPr lang="es-ES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solid</a:t>
            </a:r>
            <a:r>
              <a:rPr lang="es-ES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red"</a:t>
            </a:r>
            <a:r>
              <a:rPr lang="es-ES" dirty="0">
                <a:solidFill>
                  <a:srgbClr val="38383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s-E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s-ES" dirty="0">
                <a:solidFill>
                  <a:srgbClr val="38383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s-ES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s-ES" dirty="0" err="1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s-ES" dirty="0">
                <a:solidFill>
                  <a:srgbClr val="38383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s-ES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s-ES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s-ES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s-ES" dirty="0">
                <a:solidFill>
                  <a:srgbClr val="38383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s-E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Enter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s-E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s-E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r>
              <a:rPr lang="es-ES" dirty="0">
                <a:solidFill>
                  <a:srgbClr val="38383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s-ES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lang="es-ES" dirty="0">
                <a:solidFill>
                  <a:srgbClr val="38383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s-E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s-ES" dirty="0">
                <a:solidFill>
                  <a:srgbClr val="38383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s-ES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s-ES" dirty="0" err="1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s-ES" dirty="0">
                <a:solidFill>
                  <a:srgbClr val="38383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s-ES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s-ES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lang="es-ES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s-ES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es-ES" dirty="0">
                <a:solidFill>
                  <a:srgbClr val="38383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s-ES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s-ES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s-ES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s-ES" dirty="0">
                <a:solidFill>
                  <a:srgbClr val="38383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/&gt;</a:t>
            </a:r>
            <a:endParaRPr lang="es-E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dirty="0">
                <a:solidFill>
                  <a:srgbClr val="38383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s-ES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es-ES" dirty="0">
                <a:solidFill>
                  <a:srgbClr val="38383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s-E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dirty="0">
                <a:solidFill>
                  <a:srgbClr val="38383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s-ES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s-ES" dirty="0">
                <a:solidFill>
                  <a:srgbClr val="38383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s-E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Enter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s-E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HTML </a:t>
            </a:r>
            <a:r>
              <a:rPr lang="es-E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here</a:t>
            </a:r>
            <a:r>
              <a:rPr lang="es-ES" dirty="0">
                <a:solidFill>
                  <a:srgbClr val="38383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s-ES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s-ES" dirty="0">
                <a:solidFill>
                  <a:srgbClr val="38383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s-E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5" name="Cuadro de texto 2">
            <a:extLst>
              <a:ext uri="{FF2B5EF4-FFF2-40B4-BE49-F238E27FC236}">
                <a16:creationId xmlns:a16="http://schemas.microsoft.com/office/drawing/2014/main" id="{06406CC3-AD1A-158B-7560-543A41F79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032622"/>
            <a:ext cx="9761737" cy="263450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&lt;&gt; </a:t>
            </a:r>
            <a:endParaRPr lang="es-E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{</a:t>
            </a:r>
            <a:r>
              <a:rPr lang="es-ES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/* </a:t>
            </a:r>
            <a:r>
              <a:rPr lang="es-ES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r>
              <a:rPr lang="es-ES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s-ES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world</a:t>
            </a:r>
            <a:r>
              <a:rPr lang="es-ES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*/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s-E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&lt;</a:t>
            </a:r>
            <a:r>
              <a:rPr lang="es-E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s-E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s-ES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s-ES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awesome</a:t>
            </a:r>
            <a:r>
              <a:rPr lang="es-ES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s-E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style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={{ </a:t>
            </a:r>
            <a:r>
              <a:rPr lang="es-E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r>
              <a:rPr lang="es-ES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"1px </a:t>
            </a:r>
            <a:r>
              <a:rPr lang="es-ES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solid</a:t>
            </a:r>
            <a:r>
              <a:rPr lang="es-ES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red"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}}&gt;</a:t>
            </a:r>
            <a:endParaRPr lang="es-E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&lt;</a:t>
            </a:r>
            <a:r>
              <a:rPr lang="es-E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s-E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htmlFor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s-ES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s-ES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s-ES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s-ES" dirty="0" err="1">
                <a:solidFill>
                  <a:srgbClr val="008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Enter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s-E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s-E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 &lt;/</a:t>
            </a:r>
            <a:r>
              <a:rPr lang="es-E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s-E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 &lt;input </a:t>
            </a:r>
            <a:r>
              <a:rPr lang="es-E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s-ES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s-ES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lang="es-ES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id=</a:t>
            </a:r>
            <a:r>
              <a:rPr lang="es-ES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s-ES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s-ES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/&gt;</a:t>
            </a:r>
            <a:endParaRPr lang="es-E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&lt;/</a:t>
            </a:r>
            <a:r>
              <a:rPr lang="es-E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s-E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&lt;p&gt;</a:t>
            </a:r>
            <a:r>
              <a:rPr lang="es-ES" dirty="0" err="1">
                <a:solidFill>
                  <a:srgbClr val="008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Enter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s-E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s-ES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s-E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here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&lt;/p&gt;</a:t>
            </a:r>
            <a:endParaRPr lang="es-E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ES" dirty="0">
                <a:solidFill>
                  <a:srgbClr val="38383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&lt;</a:t>
            </a:r>
            <a:r>
              <a:rPr lang="es-ES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h1</a:t>
            </a:r>
            <a:r>
              <a:rPr lang="es-ES" dirty="0">
                <a:solidFill>
                  <a:srgbClr val="38383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{user.name}</a:t>
            </a:r>
            <a:r>
              <a:rPr lang="es-ES" dirty="0">
                <a:solidFill>
                  <a:srgbClr val="38383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s-ES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h1</a:t>
            </a:r>
            <a:r>
              <a:rPr lang="es-ES" dirty="0">
                <a:solidFill>
                  <a:srgbClr val="38383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s-E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&lt;/&gt;</a:t>
            </a:r>
            <a:endParaRPr lang="es-E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138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086964-3B2A-A71C-B647-AAC8C72D4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4. JSX (y III)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90313E-2511-B8BB-A7FB-65320F6A8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Algunas de las diferencias que se pueden observar:</a:t>
            </a: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Comentarios con llaves </a:t>
            </a:r>
            <a:r>
              <a:rPr lang="es-E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{/*  */}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Estilos CSS mediante clases y el atributo </a:t>
            </a:r>
            <a:r>
              <a:rPr lang="es-ES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className</a:t>
            </a:r>
            <a:r>
              <a:rPr lang="es-E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 bien, con el atributo </a:t>
            </a:r>
            <a:r>
              <a:rPr lang="es-ES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style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 doble llave.</a:t>
            </a: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Cambios en atributos como </a:t>
            </a:r>
            <a:r>
              <a:rPr lang="es-ES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htmlFor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en vez de </a:t>
            </a:r>
            <a:r>
              <a:rPr lang="es-ES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 puede insertar código JS utilizando las llaves, como, por ejemplo, </a:t>
            </a:r>
            <a:r>
              <a:rPr lang="es-E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{user.name}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 puede utilizar JS para generar listas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 pueden añadir manejadores de eventos en los componentes</a:t>
            </a:r>
            <a:endParaRPr lang="es-ES" sz="18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BD0CB39-162B-5E50-F227-117A73812172}"/>
              </a:ext>
            </a:extLst>
          </p:cNvPr>
          <p:cNvSpPr txBox="1"/>
          <p:nvPr/>
        </p:nvSpPr>
        <p:spPr>
          <a:xfrm>
            <a:off x="8087558" y="6311900"/>
            <a:ext cx="3906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Ver ejemplo 3.Ejemplo JS con JSX</a:t>
            </a:r>
          </a:p>
        </p:txBody>
      </p:sp>
    </p:spTree>
    <p:extLst>
      <p:ext uri="{BB962C8B-B14F-4D97-AF65-F5344CB8AC3E}">
        <p14:creationId xmlns:p14="http://schemas.microsoft.com/office/powerpoint/2010/main" val="195929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B6148-EB71-EF2F-CF61-8C1A238D8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 Agregar estado a los componentes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52C303-DC23-DDE2-FB48-94C4E553F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53591"/>
          </a:xfrm>
        </p:spPr>
        <p:txBody>
          <a:bodyPr/>
          <a:lstStyle/>
          <a:p>
            <a:r>
              <a:rPr lang="es-ES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La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función de </a:t>
            </a:r>
            <a:r>
              <a:rPr lang="es-ES" sz="18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React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useState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permite agregar estado a un componente, por ejemplo:</a:t>
            </a:r>
          </a:p>
          <a:p>
            <a:endParaRPr lang="es-ES" dirty="0"/>
          </a:p>
        </p:txBody>
      </p:sp>
      <p:sp>
        <p:nvSpPr>
          <p:cNvPr id="7" name="Cuadro de texto 2">
            <a:extLst>
              <a:ext uri="{FF2B5EF4-FFF2-40B4-BE49-F238E27FC236}">
                <a16:creationId xmlns:a16="http://schemas.microsoft.com/office/drawing/2014/main" id="{A9A90615-460D-678D-AA6A-8409BEDBC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004" y="2379216"/>
            <a:ext cx="7811521" cy="10497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ts val="1425"/>
              </a:lnSpc>
              <a:spcAft>
                <a:spcPts val="800"/>
              </a:spcAft>
            </a:pPr>
            <a:endParaRPr lang="es-ES" dirty="0">
              <a:solidFill>
                <a:srgbClr val="0000FF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MyButton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  <a:endParaRPr lang="es-E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s-ES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es-E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E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setCount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s-E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React.useState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ES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s-E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s-E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6DC1181-09D0-9DB6-C5C7-140DF742EAB7}"/>
              </a:ext>
            </a:extLst>
          </p:cNvPr>
          <p:cNvSpPr txBox="1"/>
          <p:nvPr/>
        </p:nvSpPr>
        <p:spPr>
          <a:xfrm>
            <a:off x="838200" y="3542190"/>
            <a:ext cx="10338786" cy="2250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 invocar </a:t>
            </a:r>
            <a:r>
              <a:rPr lang="es-ES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useState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 le pasa como parámetro el valor inicial del estado, en el ejemplo el valor inicial es cero.</a:t>
            </a:r>
          </a:p>
          <a:p>
            <a:pPr marL="285750" lvl="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función devuelve dos valores que se recogen mediante desestructuración: </a:t>
            </a: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 primero es el valor de estado actual (“</a:t>
            </a:r>
            <a:r>
              <a:rPr lang="es-ES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count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”) y el segundo un método que permite establecer un nuevo valor para el estado (“</a:t>
            </a:r>
            <a:r>
              <a:rPr lang="es-ES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setCount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”). </a:t>
            </a:r>
          </a:p>
          <a:p>
            <a:pPr marL="285750" lvl="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 nombres los escoge el programador al recoger lo devuelto por </a:t>
            </a:r>
            <a:r>
              <a:rPr lang="es-ES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useState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 se renderiza varias veces un componente, cada uno obtendrá su propio estado </a:t>
            </a:r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DB9192F-1A39-C31A-8B0C-7BFE57C8AB5F}"/>
              </a:ext>
            </a:extLst>
          </p:cNvPr>
          <p:cNvSpPr txBox="1"/>
          <p:nvPr/>
        </p:nvSpPr>
        <p:spPr>
          <a:xfrm>
            <a:off x="7975107" y="6404098"/>
            <a:ext cx="4216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Ver ejemplo 4.Estado de los componentes</a:t>
            </a:r>
          </a:p>
        </p:txBody>
      </p:sp>
    </p:spTree>
    <p:extLst>
      <p:ext uri="{BB962C8B-B14F-4D97-AF65-F5344CB8AC3E}">
        <p14:creationId xmlns:p14="http://schemas.microsoft.com/office/powerpoint/2010/main" val="1494933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F2027B-ABF3-40D7-FE65-3BF406F09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6. Compartir el estado entre componentes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0C0F8B-474C-FA7D-7377-7D630EFC9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2763"/>
            <a:ext cx="10515600" cy="1814220"/>
          </a:xfrm>
        </p:spPr>
        <p:txBody>
          <a:bodyPr/>
          <a:lstStyle/>
          <a:p>
            <a:pPr>
              <a:lnSpc>
                <a:spcPct val="107000"/>
              </a:lnSpc>
            </a:pP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 este caso debe haber un componente “padre” que es el que utiliza la función </a:t>
            </a:r>
            <a:r>
              <a:rPr lang="es-ES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useState</a:t>
            </a: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</a:pP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 componentes “hijo” comparten el estado del padre.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También pueden compartir otra información, como un manejador de eventos.</a:t>
            </a:r>
          </a:p>
          <a:p>
            <a:r>
              <a:rPr lang="es-E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 estado se pasa como parámetro del “constructor” del componente.</a:t>
            </a:r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73E08DF-18C0-17C9-4A6B-CDA7F1B493C2}"/>
              </a:ext>
            </a:extLst>
          </p:cNvPr>
          <p:cNvSpPr txBox="1"/>
          <p:nvPr/>
        </p:nvSpPr>
        <p:spPr>
          <a:xfrm>
            <a:off x="6412637" y="3429000"/>
            <a:ext cx="5708342" cy="2626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{</a:t>
            </a:r>
            <a:r>
              <a:rPr lang="es-E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/* Constructor de componente con parámetros */</a:t>
            </a:r>
            <a:r>
              <a:rPr lang="es-E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s-E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6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s-E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MyButton</a:t>
            </a:r>
            <a:r>
              <a:rPr lang="es-E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({ </a:t>
            </a:r>
            <a:r>
              <a:rPr lang="es-E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s-E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E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onClick</a:t>
            </a:r>
            <a:r>
              <a:rPr lang="es-E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}) {</a:t>
            </a:r>
            <a:endParaRPr lang="es-E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s-ES" sz="16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s-E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endParaRPr lang="es-E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s-ES" sz="16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s-ES" sz="160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r>
              <a:rPr lang="es-E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60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onClick</a:t>
            </a:r>
            <a:r>
              <a:rPr lang="es-E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s-E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s-E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onClick</a:t>
            </a:r>
            <a:r>
              <a:rPr lang="es-E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s-ES" sz="16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s-E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</a:t>
            </a:r>
            <a:r>
              <a:rPr lang="es-E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Clicked</a:t>
            </a:r>
            <a:r>
              <a:rPr lang="es-E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s-E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s-E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s-E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times</a:t>
            </a:r>
            <a:endParaRPr lang="es-E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s-ES" sz="16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s-ES" sz="160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r>
              <a:rPr lang="es-ES" sz="16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s-E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);</a:t>
            </a:r>
            <a:endParaRPr lang="es-E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s-E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BDC8307-C00D-3A10-32FA-F919C998F4FA}"/>
              </a:ext>
            </a:extLst>
          </p:cNvPr>
          <p:cNvSpPr txBox="1"/>
          <p:nvPr/>
        </p:nvSpPr>
        <p:spPr>
          <a:xfrm>
            <a:off x="71021" y="3429000"/>
            <a:ext cx="6232125" cy="3190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{</a:t>
            </a:r>
            <a:r>
              <a:rPr lang="es-E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/* ... Componente padre */</a:t>
            </a:r>
            <a:r>
              <a:rPr lang="es-E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s-ES" sz="16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s-E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    </a:t>
            </a: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s-ES" sz="16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s-ES" sz="160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es-ES" sz="16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s-E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</a:t>
            </a:r>
            <a:r>
              <a:rPr lang="es-ES" sz="16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&lt;h1&gt;</a:t>
            </a:r>
            <a:r>
              <a:rPr lang="es-E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Counters</a:t>
            </a:r>
            <a:r>
              <a:rPr lang="es-E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es-E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lang="es-E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together</a:t>
            </a:r>
            <a:r>
              <a:rPr lang="es-ES" sz="16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&lt;/h1&gt;</a:t>
            </a: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{</a:t>
            </a:r>
            <a:r>
              <a:rPr lang="es-E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/* Pasan como parámetros al constructor */</a:t>
            </a:r>
            <a:r>
              <a:rPr lang="es-E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s-E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</a:t>
            </a:r>
            <a:r>
              <a:rPr lang="es-ES" sz="16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s-ES" sz="160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MyButton</a:t>
            </a:r>
            <a:r>
              <a:rPr lang="es-E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60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s-E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s-E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s-E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s-E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s-E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60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onClick</a:t>
            </a:r>
            <a:r>
              <a:rPr lang="es-E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s-E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s-E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handleClick</a:t>
            </a:r>
            <a:r>
              <a:rPr lang="es-E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s-E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6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/&gt;</a:t>
            </a:r>
            <a:endParaRPr lang="es-E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</a:t>
            </a:r>
            <a:r>
              <a:rPr lang="es-ES" sz="16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s-ES" sz="160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MyButton</a:t>
            </a:r>
            <a:r>
              <a:rPr lang="es-E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60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s-E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s-E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s-E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s-E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s-E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60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onClick</a:t>
            </a:r>
            <a:r>
              <a:rPr lang="es-E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s-E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s-E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handleClick</a:t>
            </a:r>
            <a:r>
              <a:rPr lang="es-E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s-E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6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/&gt;</a:t>
            </a:r>
            <a:endParaRPr lang="es-E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s-ES" sz="16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s-ES" sz="160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es-ES" sz="16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s-E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);</a:t>
            </a:r>
            <a:endParaRPr lang="es-E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800"/>
              </a:spcAft>
            </a:pPr>
            <a:r>
              <a:rPr lang="es-E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s-ES" dirty="0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D85F49E8-2EEA-71C6-0118-C66B4D81912D}"/>
              </a:ext>
            </a:extLst>
          </p:cNvPr>
          <p:cNvCxnSpPr/>
          <p:nvPr/>
        </p:nvCxnSpPr>
        <p:spPr>
          <a:xfrm>
            <a:off x="6314983" y="3427570"/>
            <a:ext cx="0" cy="262779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DD4A4D1-8BD7-AD5C-404C-25710AF6E18A}"/>
              </a:ext>
            </a:extLst>
          </p:cNvPr>
          <p:cNvSpPr txBox="1"/>
          <p:nvPr/>
        </p:nvSpPr>
        <p:spPr>
          <a:xfrm>
            <a:off x="8735627" y="6308209"/>
            <a:ext cx="3151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Ver ejemplo 5.Compartir estado</a:t>
            </a:r>
          </a:p>
        </p:txBody>
      </p:sp>
    </p:spTree>
    <p:extLst>
      <p:ext uri="{BB962C8B-B14F-4D97-AF65-F5344CB8AC3E}">
        <p14:creationId xmlns:p14="http://schemas.microsoft.com/office/powerpoint/2010/main" val="3851769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358BF7-E60E-DA1F-F545-26ECB5B23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7. Añadir JSX a un proyecto (I)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A83377-1F08-4D3B-E56E-365AE5EDF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En los ejemplos anteriores se ha utilizado JSX mediante la inserción de la librería Babel en el fichero index.html. </a:t>
            </a:r>
          </a:p>
          <a:p>
            <a:pPr marL="0" indent="0">
              <a:buNone/>
            </a:pPr>
            <a:endParaRPr lang="es-ES" dirty="0"/>
          </a:p>
          <a:p>
            <a:r>
              <a:rPr lang="es-ES" dirty="0"/>
              <a:t>Esto no se recomienda para un proyecto profesional por motivos de rendimiento. </a:t>
            </a:r>
          </a:p>
          <a:p>
            <a:r>
              <a:rPr lang="es-ES" dirty="0"/>
              <a:t>Lo habitual es utilizar un preprocesador de JSX que convierte el JSX en código legible directamente por el navegador.</a:t>
            </a:r>
          </a:p>
          <a:p>
            <a:r>
              <a:rPr lang="es-ES" dirty="0"/>
              <a:t>Debemos tener instalado Node.js para disponer de </a:t>
            </a:r>
            <a:r>
              <a:rPr lang="es-ES" i="1" dirty="0" err="1"/>
              <a:t>npm</a:t>
            </a:r>
            <a:r>
              <a:rPr lang="es-ES" dirty="0"/>
              <a:t>.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5ACC3FC-1BFA-9D58-D502-CDAED82FEF47}"/>
              </a:ext>
            </a:extLst>
          </p:cNvPr>
          <p:cNvSpPr txBox="1"/>
          <p:nvPr/>
        </p:nvSpPr>
        <p:spPr>
          <a:xfrm>
            <a:off x="976544" y="2626018"/>
            <a:ext cx="10111666" cy="523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s-ES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&lt;script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solidFill>
                  <a:srgbClr val="E5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s-E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s-E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"https://unpkg.com/@babel/standalone/babel.min.js"</a:t>
            </a:r>
            <a:r>
              <a:rPr lang="es-ES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&gt;&lt;/script&gt;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6056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358BF7-E60E-DA1F-F545-26ECB5B23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7. Añadir JSX a un proyecto (II)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A83377-1F08-4D3B-E56E-365AE5EDF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60123"/>
          </a:xfrm>
        </p:spPr>
        <p:txBody>
          <a:bodyPr>
            <a:normAutofit fontScale="92500" lnSpcReduction="10000"/>
          </a:bodyPr>
          <a:lstStyle/>
          <a:p>
            <a:r>
              <a:rPr lang="es-ES" sz="2400" dirty="0"/>
              <a:t>A continuación se ejecutarán los siguientes comandos desde la terminal de </a:t>
            </a:r>
            <a:r>
              <a:rPr lang="es-ES" sz="2400" dirty="0" err="1"/>
              <a:t>VSCode</a:t>
            </a:r>
            <a:r>
              <a:rPr lang="es-ES" sz="2400" dirty="0"/>
              <a:t> y estando situados en el directorio raíz de nuestro proyecto.</a:t>
            </a:r>
          </a:p>
          <a:p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2C4121E-38CC-AFB8-6930-F828DE4450E5}"/>
              </a:ext>
            </a:extLst>
          </p:cNvPr>
          <p:cNvSpPr txBox="1"/>
          <p:nvPr/>
        </p:nvSpPr>
        <p:spPr>
          <a:xfrm>
            <a:off x="949911" y="2503504"/>
            <a:ext cx="99785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latin typeface="Consolas" panose="020B0609020204030204" pitchFamily="49" charset="0"/>
              </a:rPr>
              <a:t>&gt; </a:t>
            </a:r>
            <a:r>
              <a:rPr lang="es-ES" sz="2000" dirty="0" err="1">
                <a:latin typeface="Consolas" panose="020B0609020204030204" pitchFamily="49" charset="0"/>
              </a:rPr>
              <a:t>npm</a:t>
            </a:r>
            <a:r>
              <a:rPr lang="es-ES" sz="2000" dirty="0">
                <a:latin typeface="Consolas" panose="020B0609020204030204" pitchFamily="49" charset="0"/>
              </a:rPr>
              <a:t> </a:t>
            </a:r>
            <a:r>
              <a:rPr lang="es-ES" sz="2000" dirty="0" err="1">
                <a:latin typeface="Consolas" panose="020B0609020204030204" pitchFamily="49" charset="0"/>
              </a:rPr>
              <a:t>init</a:t>
            </a:r>
            <a:r>
              <a:rPr lang="es-ES" sz="2000" dirty="0">
                <a:latin typeface="Consolas" panose="020B0609020204030204" pitchFamily="49" charset="0"/>
              </a:rPr>
              <a:t> –y</a:t>
            </a:r>
          </a:p>
          <a:p>
            <a:r>
              <a:rPr lang="es-ES" sz="2000" dirty="0">
                <a:latin typeface="Consolas" panose="020B0609020204030204" pitchFamily="49" charset="0"/>
              </a:rPr>
              <a:t>&gt; </a:t>
            </a:r>
            <a:r>
              <a:rPr lang="es-ES" sz="2000" dirty="0" err="1">
                <a:latin typeface="Consolas" panose="020B0609020204030204" pitchFamily="49" charset="0"/>
              </a:rPr>
              <a:t>npm</a:t>
            </a:r>
            <a:r>
              <a:rPr lang="es-ES" sz="2000" dirty="0">
                <a:latin typeface="Consolas" panose="020B0609020204030204" pitchFamily="49" charset="0"/>
              </a:rPr>
              <a:t> </a:t>
            </a:r>
            <a:r>
              <a:rPr lang="es-ES" sz="2000" dirty="0" err="1">
                <a:latin typeface="Consolas" panose="020B0609020204030204" pitchFamily="49" charset="0"/>
              </a:rPr>
              <a:t>install</a:t>
            </a:r>
            <a:r>
              <a:rPr lang="es-ES" sz="2000" dirty="0">
                <a:latin typeface="Consolas" panose="020B0609020204030204" pitchFamily="49" charset="0"/>
              </a:rPr>
              <a:t> babel-cli@6 babel-preset-react-app@3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&gt; </a:t>
            </a:r>
            <a:r>
              <a:rPr lang="en-US" sz="2000" dirty="0" err="1">
                <a:latin typeface="Consolas" panose="020B0609020204030204" pitchFamily="49" charset="0"/>
              </a:rPr>
              <a:t>npx</a:t>
            </a:r>
            <a:r>
              <a:rPr lang="en-US" sz="2000" dirty="0">
                <a:latin typeface="Consolas" panose="020B0609020204030204" pitchFamily="49" charset="0"/>
              </a:rPr>
              <a:t> babel --watch </a:t>
            </a:r>
            <a:r>
              <a:rPr lang="en-US" sz="2000" dirty="0" err="1">
                <a:latin typeface="Consolas" panose="020B0609020204030204" pitchFamily="49" charset="0"/>
              </a:rPr>
              <a:t>src</a:t>
            </a:r>
            <a:r>
              <a:rPr lang="en-US" sz="2000" dirty="0">
                <a:latin typeface="Consolas" panose="020B0609020204030204" pitchFamily="49" charset="0"/>
              </a:rPr>
              <a:t> --out-</a:t>
            </a:r>
            <a:r>
              <a:rPr lang="en-US" sz="2000" dirty="0" err="1">
                <a:latin typeface="Consolas" panose="020B0609020204030204" pitchFamily="49" charset="0"/>
              </a:rPr>
              <a:t>dir</a:t>
            </a:r>
            <a:r>
              <a:rPr lang="en-US" sz="2000" dirty="0">
                <a:latin typeface="Consolas" panose="020B0609020204030204" pitchFamily="49" charset="0"/>
              </a:rPr>
              <a:t> . --presets react-app/prod</a:t>
            </a:r>
            <a:endParaRPr lang="es-ES" sz="2000" dirty="0">
              <a:latin typeface="Consolas" panose="020B0609020204030204" pitchFamily="49" charset="0"/>
            </a:endParaRPr>
          </a:p>
        </p:txBody>
      </p:sp>
      <p:sp>
        <p:nvSpPr>
          <p:cNvPr id="7" name="Globo: línea 6">
            <a:extLst>
              <a:ext uri="{FF2B5EF4-FFF2-40B4-BE49-F238E27FC236}">
                <a16:creationId xmlns:a16="http://schemas.microsoft.com/office/drawing/2014/main" id="{ED6307C4-08E2-6DC4-34C8-7F80F8C85EEF}"/>
              </a:ext>
            </a:extLst>
          </p:cNvPr>
          <p:cNvSpPr/>
          <p:nvPr/>
        </p:nvSpPr>
        <p:spPr>
          <a:xfrm>
            <a:off x="4465469" y="4593366"/>
            <a:ext cx="6107836" cy="600072"/>
          </a:xfrm>
          <a:prstGeom prst="borderCallout1">
            <a:avLst>
              <a:gd name="adj1" fmla="val 18750"/>
              <a:gd name="adj2" fmla="val -8333"/>
              <a:gd name="adj3" fmla="val -176540"/>
              <a:gd name="adj4" fmla="val -4766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En cada sesión de trabajo se debe ejecutar el último comando, de forma que se traduzca el JSX automáticamente</a:t>
            </a:r>
          </a:p>
        </p:txBody>
      </p:sp>
    </p:spTree>
    <p:extLst>
      <p:ext uri="{BB962C8B-B14F-4D97-AF65-F5344CB8AC3E}">
        <p14:creationId xmlns:p14="http://schemas.microsoft.com/office/powerpoint/2010/main" val="1877926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358BF7-E60E-DA1F-F545-26ECB5B23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7. Añadir JSX a un proyecto (III)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7A33E2B-D3A9-39EE-FEBE-323566D6C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577" y="2359795"/>
            <a:ext cx="9239250" cy="42100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F7218D25-B05C-D68F-7607-9A0BFFFFCE9F}"/>
              </a:ext>
            </a:extLst>
          </p:cNvPr>
          <p:cNvSpPr txBox="1"/>
          <p:nvPr/>
        </p:nvSpPr>
        <p:spPr>
          <a:xfrm>
            <a:off x="1050247" y="1563577"/>
            <a:ext cx="86175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El primer comando creará el fichero </a:t>
            </a:r>
            <a:r>
              <a:rPr lang="es-ES" i="1" dirty="0" err="1"/>
              <a:t>package.json</a:t>
            </a:r>
            <a:r>
              <a:rPr lang="es-ES" i="1" dirty="0"/>
              <a:t> </a:t>
            </a:r>
            <a:r>
              <a:rPr lang="es-ES" dirty="0"/>
              <a:t>que contiene las dependencias del proyecto (librerías y paquetes utilizados).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40219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358BF7-E60E-DA1F-F545-26ECB5B23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168"/>
            <a:ext cx="10515600" cy="1325563"/>
          </a:xfrm>
        </p:spPr>
        <p:txBody>
          <a:bodyPr/>
          <a:lstStyle/>
          <a:p>
            <a:r>
              <a:rPr lang="es-ES" dirty="0"/>
              <a:t>7. Añadir JSX a un proyecto (IV)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DF418D1-C583-C760-6150-D5EE13797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681" y="2800396"/>
            <a:ext cx="10984637" cy="3869588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3D2106C-388C-CCC3-74FB-F0FE8EFDBFA3}"/>
              </a:ext>
            </a:extLst>
          </p:cNvPr>
          <p:cNvSpPr txBox="1"/>
          <p:nvPr/>
        </p:nvSpPr>
        <p:spPr>
          <a:xfrm>
            <a:off x="603681" y="1322773"/>
            <a:ext cx="109846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El segundo comando instalará todas las dependencias necesarias para una aplicación </a:t>
            </a:r>
            <a:r>
              <a:rPr lang="es-ES" dirty="0" err="1"/>
              <a:t>React</a:t>
            </a:r>
            <a:r>
              <a:rPr lang="es-ES" dirty="0"/>
              <a:t> que use Babel como preprocesador de JSX. Al utilizar este comando se generará el fichero </a:t>
            </a:r>
            <a:r>
              <a:rPr lang="es-ES" i="1" dirty="0" err="1"/>
              <a:t>package-lock.json</a:t>
            </a:r>
            <a:r>
              <a:rPr lang="es-ES" dirty="0"/>
              <a:t> que contiene un historial de los paquetes instalados y sirve para optimizar la forma en que se generan las dependencias del proyecto y los contenidos de la carpeta </a:t>
            </a:r>
            <a:r>
              <a:rPr lang="es-ES" i="1" dirty="0" err="1"/>
              <a:t>node_modules</a:t>
            </a:r>
            <a:endParaRPr lang="es-ES" i="1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38433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358BF7-E60E-DA1F-F545-26ECB5B23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7. Añadir JSX a un proyecto (y V)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51B654D-14BD-4CD8-E6B0-49EA32502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969" y="3429000"/>
            <a:ext cx="10736062" cy="241079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868846C-65CB-43A9-1348-849EADFE4162}"/>
              </a:ext>
            </a:extLst>
          </p:cNvPr>
          <p:cNvSpPr txBox="1"/>
          <p:nvPr/>
        </p:nvSpPr>
        <p:spPr>
          <a:xfrm>
            <a:off x="585926" y="1624614"/>
            <a:ext cx="1084851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El tercer comando establece que el directorio ./</a:t>
            </a:r>
            <a:r>
              <a:rPr lang="es-ES" i="1" dirty="0" err="1"/>
              <a:t>src</a:t>
            </a:r>
            <a:r>
              <a:rPr lang="es-ES" dirty="0"/>
              <a:t> del proyecto es el que contendrá los ficheros de código JSX y que el directorio principal del proyecto es el directorio de salida del preprocesador.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Esto lo que quiere decir es que crearemos ficheros con código JSX en </a:t>
            </a:r>
            <a:r>
              <a:rPr lang="es-ES" i="1" dirty="0"/>
              <a:t>./</a:t>
            </a:r>
            <a:r>
              <a:rPr lang="es-ES" i="1" dirty="0" err="1"/>
              <a:t>src</a:t>
            </a:r>
            <a:r>
              <a:rPr lang="es-ES" i="1" dirty="0"/>
              <a:t> </a:t>
            </a:r>
            <a:r>
              <a:rPr lang="es-ES" dirty="0"/>
              <a:t>y al grabar, automáticamente, se generarán ficheros legibles directamente por el navegador en la carpeta principal del proyecto.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En cada sesión de trabajo se debe ejecutar este comando, de forma que se traduzca el JSX automáticamente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EB3A809-0E12-58AA-FE6E-B63146A757DD}"/>
              </a:ext>
            </a:extLst>
          </p:cNvPr>
          <p:cNvSpPr txBox="1"/>
          <p:nvPr/>
        </p:nvSpPr>
        <p:spPr>
          <a:xfrm>
            <a:off x="8735627" y="6308209"/>
            <a:ext cx="3151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Ver ejemplo 6.Proyecto con JSX</a:t>
            </a:r>
          </a:p>
        </p:txBody>
      </p:sp>
    </p:spTree>
    <p:extLst>
      <p:ext uri="{BB962C8B-B14F-4D97-AF65-F5344CB8AC3E}">
        <p14:creationId xmlns:p14="http://schemas.microsoft.com/office/powerpoint/2010/main" val="20878754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1642</Words>
  <Application>Microsoft Office PowerPoint</Application>
  <PresentationFormat>Panorámica</PresentationFormat>
  <Paragraphs>177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Consolas</vt:lpstr>
      <vt:lpstr>Courier New</vt:lpstr>
      <vt:lpstr>Symbol</vt:lpstr>
      <vt:lpstr>Tema de Office</vt:lpstr>
      <vt:lpstr>Introducción a React</vt:lpstr>
      <vt:lpstr>Índice</vt:lpstr>
      <vt:lpstr>1. Hola mundo en React.js (I) </vt:lpstr>
      <vt:lpstr>1. Hola mundo en React.js (y II)</vt:lpstr>
      <vt:lpstr>2. Entorno de desarrollo </vt:lpstr>
      <vt:lpstr>3.Componentes React</vt:lpstr>
      <vt:lpstr>4. JSX (I)</vt:lpstr>
      <vt:lpstr>4.JSX (II)</vt:lpstr>
      <vt:lpstr>4. JSX (y III)</vt:lpstr>
      <vt:lpstr>5. Agregar estado a los componentes</vt:lpstr>
      <vt:lpstr>6. Compartir el estado entre componentes</vt:lpstr>
      <vt:lpstr>7. Añadir JSX a un proyecto (I)</vt:lpstr>
      <vt:lpstr>7. Añadir JSX a un proyecto (II)</vt:lpstr>
      <vt:lpstr>7. Añadir JSX a un proyecto (III)</vt:lpstr>
      <vt:lpstr>7. Añadir JSX a un proyecto (IV)</vt:lpstr>
      <vt:lpstr>7. Añadir JSX a un proyecto (y V)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React</dc:title>
  <dc:creator>Carlos Alberto Rodriguez Parrales</dc:creator>
  <cp:lastModifiedBy>Carlos Alberto Rodriguez Parrales</cp:lastModifiedBy>
  <cp:revision>4</cp:revision>
  <dcterms:created xsi:type="dcterms:W3CDTF">2023-01-06T17:15:11Z</dcterms:created>
  <dcterms:modified xsi:type="dcterms:W3CDTF">2023-01-11T22:36:48Z</dcterms:modified>
</cp:coreProperties>
</file>